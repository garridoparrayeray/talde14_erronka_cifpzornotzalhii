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k4eocut6EDNznZhZqa5hTsn1A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Yeray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Yeray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Yeray</a:t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eder</a:t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eder</a:t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Yeray</a:t>
            </a:r>
            <a:endParaRPr/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Eder</a:t>
            </a:r>
            <a:endParaRPr/>
          </a:p>
        </p:txBody>
      </p:sp>
      <p:sp>
        <p:nvSpPr>
          <p:cNvPr id="215" name="Google Shape;2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Eder</a:t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Yeray</a:t>
            </a:r>
            <a:endParaRPr/>
          </a:p>
        </p:txBody>
      </p:sp>
      <p:sp>
        <p:nvSpPr>
          <p:cNvPr id="329" name="Google Shape;3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Eder</a:t>
            </a:r>
            <a:endParaRPr/>
          </a:p>
        </p:txBody>
      </p:sp>
      <p:sp>
        <p:nvSpPr>
          <p:cNvPr id="374" name="Google Shape;3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Bixok</a:t>
            </a:r>
            <a:endParaRPr/>
          </a:p>
        </p:txBody>
      </p:sp>
      <p:sp>
        <p:nvSpPr>
          <p:cNvPr id="412" name="Google Shape;41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Yeray</a:t>
            </a:r>
            <a:endParaRPr/>
          </a:p>
        </p:txBody>
      </p:sp>
      <p:sp>
        <p:nvSpPr>
          <p:cNvPr id="426" name="Google Shape;42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Eder</a:t>
            </a:r>
            <a:endParaRPr/>
          </a:p>
        </p:txBody>
      </p:sp>
      <p:sp>
        <p:nvSpPr>
          <p:cNvPr id="459" name="Google Shape;4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Yeray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55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CIFP Zornotza LHII · 1º DAW ·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931950" y="283550"/>
            <a:ext cx="1280100" cy="1280100"/>
          </a:xfrm>
          <a:prstGeom prst="ellipse">
            <a:avLst/>
          </a:prstGeom>
          <a:solidFill>
            <a:srgbClr val="0096C7">
              <a:alpha val="20000"/>
            </a:srgbClr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931955" y="306343"/>
            <a:ext cx="1280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Bermeo udalako aplikazioa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30428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Galdu eta Aurkituen Kudeaketa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Bermeoko Udalaren Sistema Integratua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286000" y="3931920"/>
            <a:ext cx="4572000" cy="822960"/>
          </a:xfrm>
          <a:prstGeom prst="rect">
            <a:avLst/>
          </a:prstGeom>
          <a:solidFill>
            <a:srgbClr val="2D7DD2">
              <a:alpha val="70196"/>
            </a:srgbClr>
          </a:solidFill>
          <a:ln cap="flat" cmpd="sng" w="9525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286000" y="393192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Yeray Garrido Parra  ·  Eder Martin Mosquera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Erronka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Aurkezpena —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2600"/>
              <a:buFont typeface="Calibri"/>
              <a:buNone/>
            </a:pPr>
            <a:r>
              <a:rPr b="1" lang="en-US" sz="27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Aurkibidea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868680"/>
            <a:ext cx="411480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2" name="Google Shape;32;p2"/>
          <p:cNvSpPr/>
          <p:nvPr/>
        </p:nvSpPr>
        <p:spPr>
          <a:xfrm>
            <a:off x="365760" y="868680"/>
            <a:ext cx="502920" cy="777240"/>
          </a:xfrm>
          <a:prstGeom prst="rect">
            <a:avLst/>
          </a:prstGeom>
          <a:solidFill>
            <a:srgbClr val="1C3557"/>
          </a:solidFill>
          <a:ln cap="flat" cmpd="sng" w="12700">
            <a:solidFill>
              <a:srgbClr val="1C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3" name="Google Shape;33;p2"/>
          <p:cNvSpPr/>
          <p:nvPr/>
        </p:nvSpPr>
        <p:spPr>
          <a:xfrm>
            <a:off x="365760" y="86868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87552" y="94183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Sarrera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87552" y="125272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tzuk</a:t>
            </a: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gara eta zer egin dugu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65760" y="1828800"/>
            <a:ext cx="411480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7" name="Google Shape;37;p2"/>
          <p:cNvSpPr/>
          <p:nvPr/>
        </p:nvSpPr>
        <p:spPr>
          <a:xfrm>
            <a:off x="365760" y="1828800"/>
            <a:ext cx="502920" cy="777240"/>
          </a:xfrm>
          <a:prstGeom prst="rect">
            <a:avLst/>
          </a:prstGeom>
          <a:solidFill>
            <a:srgbClr val="1C3557"/>
          </a:solidFill>
          <a:ln cap="flat" cmpd="sng" w="12700">
            <a:solidFill>
              <a:srgbClr val="1C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8" name="Google Shape;38;p2"/>
          <p:cNvSpPr/>
          <p:nvPr/>
        </p:nvSpPr>
        <p:spPr>
          <a:xfrm>
            <a:off x="365760" y="182880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87552" y="190195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Sistema &amp; Diseinua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87552" y="22128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Arkitektura eta MVC patroia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65760" y="2788920"/>
            <a:ext cx="411480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2" name="Google Shape;42;p2"/>
          <p:cNvSpPr/>
          <p:nvPr/>
        </p:nvSpPr>
        <p:spPr>
          <a:xfrm>
            <a:off x="365760" y="2788920"/>
            <a:ext cx="502920" cy="777240"/>
          </a:xfrm>
          <a:prstGeom prst="rect">
            <a:avLst/>
          </a:prstGeom>
          <a:solidFill>
            <a:srgbClr val="1C3557"/>
          </a:solidFill>
          <a:ln cap="flat" cmpd="sng" w="12700">
            <a:solidFill>
              <a:srgbClr val="1C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3" name="Google Shape;43;p2"/>
          <p:cNvSpPr/>
          <p:nvPr/>
        </p:nvSpPr>
        <p:spPr>
          <a:xfrm>
            <a:off x="365760" y="278892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87552" y="286207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Web Ataria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87552" y="31729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Webgunea eta bere funtzionalitateak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65760" y="3749040"/>
            <a:ext cx="411480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7" name="Google Shape;47;p2"/>
          <p:cNvSpPr/>
          <p:nvPr/>
        </p:nvSpPr>
        <p:spPr>
          <a:xfrm>
            <a:off x="365760" y="3749040"/>
            <a:ext cx="502920" cy="777240"/>
          </a:xfrm>
          <a:prstGeom prst="rect">
            <a:avLst/>
          </a:prstGeom>
          <a:solidFill>
            <a:srgbClr val="1C3557"/>
          </a:solidFill>
          <a:ln cap="flat" cmpd="sng" w="12700">
            <a:solidFill>
              <a:srgbClr val="1C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8" name="Google Shape;48;p2"/>
          <p:cNvSpPr/>
          <p:nvPr/>
        </p:nvSpPr>
        <p:spPr>
          <a:xfrm>
            <a:off x="365760" y="374904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87552" y="382219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JavaFX Aplikazioa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87552" y="413308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angileentzat bideratuta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754880" y="868680"/>
            <a:ext cx="411480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" name="Google Shape;52;p2"/>
          <p:cNvSpPr/>
          <p:nvPr/>
        </p:nvSpPr>
        <p:spPr>
          <a:xfrm>
            <a:off x="4754880" y="868680"/>
            <a:ext cx="502920" cy="777240"/>
          </a:xfrm>
          <a:prstGeom prst="rect">
            <a:avLst/>
          </a:prstGeom>
          <a:solidFill>
            <a:srgbClr val="1C3557"/>
          </a:solidFill>
          <a:ln cap="flat" cmpd="sng" w="12700">
            <a:solidFill>
              <a:srgbClr val="1C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3" name="Google Shape;53;p2"/>
          <p:cNvSpPr/>
          <p:nvPr/>
        </p:nvSpPr>
        <p:spPr>
          <a:xfrm>
            <a:off x="4754880" y="86868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376672" y="94183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Datu-basea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376672" y="125272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Taulak, triggerrak eta prozedurak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54880" y="1828800"/>
            <a:ext cx="411480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7" name="Google Shape;57;p2"/>
          <p:cNvSpPr/>
          <p:nvPr/>
        </p:nvSpPr>
        <p:spPr>
          <a:xfrm>
            <a:off x="4754880" y="1828800"/>
            <a:ext cx="502920" cy="777240"/>
          </a:xfrm>
          <a:prstGeom prst="rect">
            <a:avLst/>
          </a:prstGeom>
          <a:solidFill>
            <a:srgbClr val="1C3557"/>
          </a:solidFill>
          <a:ln cap="flat" cmpd="sng" w="12700">
            <a:solidFill>
              <a:srgbClr val="1C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8" name="Google Shape;58;p2"/>
          <p:cNvSpPr/>
          <p:nvPr/>
        </p:nvSpPr>
        <p:spPr>
          <a:xfrm>
            <a:off x="4754880" y="182880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376672" y="190195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376672" y="22128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Zuzeneko erakusaldia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754880" y="2788920"/>
            <a:ext cx="411480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" name="Google Shape;62;p2"/>
          <p:cNvSpPr/>
          <p:nvPr/>
        </p:nvSpPr>
        <p:spPr>
          <a:xfrm>
            <a:off x="4754880" y="2788920"/>
            <a:ext cx="502920" cy="777240"/>
          </a:xfrm>
          <a:prstGeom prst="rect">
            <a:avLst/>
          </a:prstGeom>
          <a:solidFill>
            <a:srgbClr val="1C3557"/>
          </a:solidFill>
          <a:ln cap="flat" cmpd="sng" w="12700">
            <a:solidFill>
              <a:srgbClr val="1C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3" name="Google Shape;63;p2"/>
          <p:cNvSpPr/>
          <p:nvPr/>
        </p:nvSpPr>
        <p:spPr>
          <a:xfrm>
            <a:off x="4754880" y="278892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376672" y="286207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Zailtasunak &amp; Hobekuntzak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376672" y="31729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Arazoak eta etorkizuna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365760" y="164592"/>
            <a:ext cx="502920" cy="274320"/>
          </a:xfrm>
          <a:prstGeom prst="roundRect">
            <a:avLst>
              <a:gd fmla="val 20000" name="adj"/>
            </a:avLst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2" name="Google Shape;72;p3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60120" y="1645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Sarrera — Nor gara eta zer egin dugu?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65760" y="594360"/>
            <a:ext cx="393192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5" name="Google Shape;75;p3"/>
          <p:cNvSpPr/>
          <p:nvPr/>
        </p:nvSpPr>
        <p:spPr>
          <a:xfrm>
            <a:off x="365760" y="594360"/>
            <a:ext cx="54864" cy="1417320"/>
          </a:xfrm>
          <a:prstGeom prst="rect">
            <a:avLst/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6" name="Google Shape;76;p3"/>
          <p:cNvSpPr/>
          <p:nvPr/>
        </p:nvSpPr>
        <p:spPr>
          <a:xfrm>
            <a:off x="530352" y="704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Taldea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30352" y="100584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Yeray Garrido Parra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Eder Martin Mosquera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1º DAW · CIFP Zornotza LHII ·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572000" y="594360"/>
            <a:ext cx="411480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9" name="Google Shape;79;p3"/>
          <p:cNvSpPr/>
          <p:nvPr/>
        </p:nvSpPr>
        <p:spPr>
          <a:xfrm>
            <a:off x="4572000" y="594360"/>
            <a:ext cx="54864" cy="1417320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0" name="Google Shape;80;p3"/>
          <p:cNvSpPr/>
          <p:nvPr/>
        </p:nvSpPr>
        <p:spPr>
          <a:xfrm>
            <a:off x="4736592" y="7040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Proiektua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736592" y="100584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Galdutakoak — Bermeoko Udalaren galdu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eta aurkitutako objektuak kudeatzeko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sistema integrala.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65760" y="21488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Zer arazo konpontzen du?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65760" y="2542032"/>
            <a:ext cx="269748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" name="Google Shape;84;p3"/>
          <p:cNvSpPr/>
          <p:nvPr/>
        </p:nvSpPr>
        <p:spPr>
          <a:xfrm>
            <a:off x="365760" y="2578608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🔎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65760" y="294436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Katalogo Publikoa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57200" y="324612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Herritarrek aurkitutako objektuak web bidez kontsulta ditzakete.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246120" y="2542032"/>
            <a:ext cx="269748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8" name="Google Shape;88;p3"/>
          <p:cNvSpPr/>
          <p:nvPr/>
        </p:nvSpPr>
        <p:spPr>
          <a:xfrm>
            <a:off x="3246120" y="2578608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246120" y="294436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Kudeaketa Bateratua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337560" y="324612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Langileek erregistratu, iragazki, entregatu ditzakete.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126480" y="2542032"/>
            <a:ext cx="269748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" name="Google Shape;92;p3"/>
          <p:cNvSpPr/>
          <p:nvPr/>
        </p:nvSpPr>
        <p:spPr>
          <a:xfrm>
            <a:off x="6126480" y="2578608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126480" y="294436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Datu-trukea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217920" y="324612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aplikazioa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XML esportatzen du; webguneak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inportatzen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365760" y="164592"/>
            <a:ext cx="502920" cy="274320"/>
          </a:xfrm>
          <a:prstGeom prst="roundRect">
            <a:avLst>
              <a:gd fmla="val 20000" name="adj"/>
            </a:avLst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1" name="Google Shape;101;p4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960120" y="1645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Sistema &amp; Diseinua — Arkitektura orokorra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65760" y="5486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 zerbitzuak Docker bidez orkestratuta: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74320" y="960120"/>
            <a:ext cx="1920240" cy="1828800"/>
          </a:xfrm>
          <a:prstGeom prst="rect">
            <a:avLst/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74320" y="1097280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Ataria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65760" y="1554480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E8FF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D1E8FF"/>
                </a:solidFill>
                <a:latin typeface="Calibri"/>
                <a:ea typeface="Calibri"/>
                <a:cs typeface="Calibri"/>
                <a:sym typeface="Calibri"/>
              </a:rPr>
              <a:t>Nginx · Port 8000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E8FF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D1E8FF"/>
                </a:solidFill>
                <a:latin typeface="Calibri"/>
                <a:ea typeface="Calibri"/>
                <a:cs typeface="Calibri"/>
                <a:sym typeface="Calibri"/>
              </a:rPr>
              <a:t>HTML/CSS/JS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E8FF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D1E8FF"/>
                </a:solidFill>
                <a:latin typeface="Calibri"/>
                <a:ea typeface="Calibri"/>
                <a:cs typeface="Calibri"/>
                <a:sym typeface="Calibri"/>
              </a:rPr>
              <a:t>Bootstrap · X</a:t>
            </a:r>
            <a:r>
              <a:rPr lang="en-US" sz="1150">
                <a:solidFill>
                  <a:srgbClr val="D1E8FF"/>
                </a:solidFill>
                <a:latin typeface="Calibri"/>
                <a:ea typeface="Calibri"/>
                <a:cs typeface="Calibri"/>
                <a:sym typeface="Calibri"/>
              </a:rPr>
              <a:t>ML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2377440" y="960120"/>
            <a:ext cx="1920240" cy="1828800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2377440" y="10972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JavaFX 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468880" y="1554480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E8FF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D1E8FF"/>
                </a:solidFill>
                <a:latin typeface="Calibri"/>
                <a:ea typeface="Calibri"/>
                <a:cs typeface="Calibri"/>
                <a:sym typeface="Calibri"/>
              </a:rPr>
              <a:t>noVNC · Port 6080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E8FF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D1E8FF"/>
                </a:solidFill>
                <a:latin typeface="Calibri"/>
                <a:ea typeface="Calibri"/>
                <a:cs typeface="Calibri"/>
                <a:sym typeface="Calibri"/>
              </a:rPr>
              <a:t>Back-office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E8FF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D1E8FF"/>
                </a:solidFill>
                <a:latin typeface="Calibri"/>
                <a:ea typeface="Calibri"/>
                <a:cs typeface="Calibri"/>
                <a:sym typeface="Calibri"/>
              </a:rPr>
              <a:t>Langileentzat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480560" y="960120"/>
            <a:ext cx="1920240" cy="1828800"/>
          </a:xfrm>
          <a:prstGeom prst="rect">
            <a:avLst/>
          </a:prstGeom>
          <a:solidFill>
            <a:srgbClr val="1C3557"/>
          </a:solidFill>
          <a:ln cap="flat" cmpd="sng" w="12700">
            <a:solidFill>
              <a:srgbClr val="1C35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1" name="Google Shape;111;p4"/>
          <p:cNvSpPr/>
          <p:nvPr/>
        </p:nvSpPr>
        <p:spPr>
          <a:xfrm>
            <a:off x="4480560" y="10972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MariaDB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572000" y="1554480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E8FF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D1E8FF"/>
                </a:solidFill>
                <a:latin typeface="Calibri"/>
                <a:ea typeface="Calibri"/>
                <a:cs typeface="Calibri"/>
                <a:sym typeface="Calibri"/>
              </a:rPr>
              <a:t>Port 3306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E8FF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D1E8FF"/>
                </a:solidFill>
                <a:latin typeface="Calibri"/>
                <a:ea typeface="Calibri"/>
                <a:cs typeface="Calibri"/>
                <a:sym typeface="Calibri"/>
              </a:rPr>
              <a:t>Datu-bas</a:t>
            </a:r>
            <a:r>
              <a:rPr lang="en-US" sz="1150">
                <a:solidFill>
                  <a:srgbClr val="D1E8FF"/>
                </a:solidFill>
                <a:latin typeface="Calibri"/>
                <a:ea typeface="Calibri"/>
                <a:cs typeface="Calibri"/>
                <a:sym typeface="Calibri"/>
              </a:rPr>
              <a:t>ea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583680" y="960120"/>
            <a:ext cx="2011680" cy="1828800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6675120" y="1554480"/>
            <a:ext cx="1828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E8FF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D1E8FF"/>
                </a:solidFill>
                <a:latin typeface="Calibri"/>
                <a:ea typeface="Calibri"/>
                <a:cs typeface="Calibri"/>
                <a:sym typeface="Calibri"/>
              </a:rPr>
              <a:t>Port 8081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E8FF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D1E8FF"/>
                </a:solidFill>
                <a:latin typeface="Calibri"/>
                <a:ea typeface="Calibri"/>
                <a:cs typeface="Calibri"/>
                <a:sym typeface="Calibri"/>
              </a:rPr>
              <a:t>Datu-basea</a:t>
            </a:r>
            <a:endParaRPr b="0" i="0" sz="1150" u="none" cap="none" strike="noStrike">
              <a:solidFill>
                <a:srgbClr val="D1E8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E8FF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D1E8FF"/>
                </a:solidFill>
                <a:latin typeface="Calibri"/>
                <a:ea typeface="Calibri"/>
                <a:cs typeface="Calibri"/>
                <a:sym typeface="Calibri"/>
              </a:rPr>
              <a:t>Modu grafikoan</a:t>
            </a:r>
            <a:endParaRPr sz="1150">
              <a:solidFill>
                <a:srgbClr val="D1E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583680" y="10972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2203704" y="1691640"/>
            <a:ext cx="164592" cy="0"/>
          </a:xfrm>
          <a:prstGeom prst="straightConnector1">
            <a:avLst/>
          </a:prstGeom>
          <a:noFill/>
          <a:ln cap="flat" cmpd="sng" w="317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4306824" y="1691640"/>
            <a:ext cx="164592" cy="0"/>
          </a:xfrm>
          <a:prstGeom prst="straightConnector1">
            <a:avLst/>
          </a:prstGeom>
          <a:noFill/>
          <a:ln cap="flat" cmpd="sng" w="317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4"/>
          <p:cNvCxnSpPr/>
          <p:nvPr/>
        </p:nvCxnSpPr>
        <p:spPr>
          <a:xfrm>
            <a:off x="6409944" y="1691640"/>
            <a:ext cx="164592" cy="0"/>
          </a:xfrm>
          <a:prstGeom prst="straightConnector1">
            <a:avLst/>
          </a:prstGeom>
          <a:noFill/>
          <a:ln cap="flat" cmpd="sng" w="317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4"/>
          <p:cNvSpPr/>
          <p:nvPr/>
        </p:nvSpPr>
        <p:spPr>
          <a:xfrm>
            <a:off x="274320" y="2971800"/>
            <a:ext cx="8321040" cy="457200"/>
          </a:xfrm>
          <a:prstGeom prst="roundRect">
            <a:avLst>
              <a:gd fmla="val 12000" name="adj"/>
            </a:avLst>
          </a:prstGeom>
          <a:solidFill>
            <a:srgbClr val="E8F1FB"/>
          </a:solidFill>
          <a:ln cap="flat" cmpd="sng" w="9525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274320" y="297180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📁  Fitxategi-trukea:  </a:t>
            </a:r>
            <a:endParaRPr sz="1000">
              <a:solidFill>
                <a:srgbClr val="1C35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00"/>
              <a:buFont typeface="Calibri"/>
              <a:buChar char="-"/>
            </a:pPr>
            <a:r>
              <a:rPr b="0" i="0" lang="en-US" sz="10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partekatutako_datuak/artikuluak.xml  ← Java idazten du · Webguneak irakurtzen du</a:t>
            </a:r>
            <a:endParaRPr sz="1000">
              <a:solidFill>
                <a:srgbClr val="1C35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00"/>
              <a:buFont typeface="Calibri"/>
              <a:buChar char="-"/>
            </a:pPr>
            <a:r>
              <a:rPr lang="en-US" sz="10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artikulu_irudiak/ &lt;- Java idazten du - Webguneak irakurtzen ditu</a:t>
            </a:r>
            <a:endParaRPr sz="1000">
              <a:solidFill>
                <a:srgbClr val="1C35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65760" y="35844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JavaFX MVC Patroia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65760" y="3950208"/>
            <a:ext cx="2651760" cy="914400"/>
          </a:xfrm>
          <a:prstGeom prst="rect">
            <a:avLst/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3" name="Google Shape;123;p4"/>
          <p:cNvSpPr/>
          <p:nvPr/>
        </p:nvSpPr>
        <p:spPr>
          <a:xfrm>
            <a:off x="365760" y="397764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425196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E8FF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CBE8FF"/>
                </a:solidFill>
                <a:latin typeface="Calibri"/>
                <a:ea typeface="Calibri"/>
                <a:cs typeface="Calibri"/>
                <a:sym typeface="Calibri"/>
              </a:rPr>
              <a:t>Eredu-klaseak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E8FF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CBE8FF"/>
                </a:solidFill>
                <a:latin typeface="Calibri"/>
                <a:ea typeface="Calibri"/>
                <a:cs typeface="Calibri"/>
                <a:sym typeface="Calibri"/>
              </a:rPr>
              <a:t>Artikulua, Langilea, Jabea…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E8FF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CBE8FF"/>
                </a:solidFill>
                <a:latin typeface="Calibri"/>
                <a:ea typeface="Calibri"/>
                <a:cs typeface="Calibri"/>
                <a:sym typeface="Calibri"/>
              </a:rPr>
              <a:t>Hartzailea (abstraktoa)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200400" y="3950208"/>
            <a:ext cx="2651760" cy="914400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6" name="Google Shape;126;p4"/>
          <p:cNvSpPr/>
          <p:nvPr/>
        </p:nvSpPr>
        <p:spPr>
          <a:xfrm>
            <a:off x="3200400" y="397764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291840" y="425196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E8FF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CBE8FF"/>
                </a:solidFill>
                <a:latin typeface="Calibri"/>
                <a:ea typeface="Calibri"/>
                <a:cs typeface="Calibri"/>
                <a:sym typeface="Calibri"/>
              </a:rPr>
              <a:t>FXML leihoak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E8FF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CBE8FF"/>
                </a:solidFill>
                <a:latin typeface="Calibri"/>
                <a:ea typeface="Calibri"/>
                <a:cs typeface="Calibri"/>
                <a:sym typeface="Calibri"/>
              </a:rPr>
              <a:t>23 pantaila desberdin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E8FF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CBE8FF"/>
                </a:solidFill>
                <a:latin typeface="Calibri"/>
                <a:ea typeface="Calibri"/>
                <a:cs typeface="Calibri"/>
                <a:sym typeface="Calibri"/>
              </a:rPr>
              <a:t>style.css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035040" y="3950208"/>
            <a:ext cx="2651760" cy="914400"/>
          </a:xfrm>
          <a:prstGeom prst="rect">
            <a:avLst/>
          </a:prstGeom>
          <a:solidFill>
            <a:srgbClr val="1C3557"/>
          </a:solidFill>
          <a:ln cap="flat" cmpd="sng" w="12700">
            <a:solidFill>
              <a:srgbClr val="1C35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9" name="Google Shape;129;p4"/>
          <p:cNvSpPr/>
          <p:nvPr/>
        </p:nvSpPr>
        <p:spPr>
          <a:xfrm>
            <a:off x="6035040" y="397764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126480" y="425196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E8FF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CBE8FF"/>
                </a:solidFill>
                <a:latin typeface="Calibri"/>
                <a:ea typeface="Calibri"/>
                <a:cs typeface="Calibri"/>
                <a:sym typeface="Calibri"/>
              </a:rPr>
              <a:t>23 kontrolatzaile klase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E8FF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CBE8FF"/>
                </a:solidFill>
                <a:latin typeface="Calibri"/>
                <a:ea typeface="Calibri"/>
                <a:cs typeface="Calibri"/>
                <a:sym typeface="Calibri"/>
              </a:rPr>
              <a:t>DAO bidez BD-ra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E8FF"/>
              </a:buClr>
              <a:buSzPts val="8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365760" y="164592"/>
            <a:ext cx="502920" cy="274320"/>
          </a:xfrm>
          <a:prstGeom prst="roundRect">
            <a:avLst>
              <a:gd fmla="val 20000" name="adj"/>
            </a:avLst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960120" y="1645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Web Ataria — Portal Publikoa (Herritarrak)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20040" y="594360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0" name="Google Shape;140;p5"/>
          <p:cNvSpPr/>
          <p:nvPr/>
        </p:nvSpPr>
        <p:spPr>
          <a:xfrm>
            <a:off x="320040" y="594360"/>
            <a:ext cx="2743200" cy="54864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20040" y="70408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11480" y="119786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Responsive Diseinu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29768" y="1527048"/>
            <a:ext cx="25237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Mobile-first ikuspegia.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bereizmen: mugikorra,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tableta eta pantaila osoa.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200400" y="594360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5" name="Google Shape;145;p5"/>
          <p:cNvSpPr/>
          <p:nvPr/>
        </p:nvSpPr>
        <p:spPr>
          <a:xfrm>
            <a:off x="3200400" y="594360"/>
            <a:ext cx="2743200" cy="54864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3200400" y="70408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291840" y="119786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Erreserba Formularioa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310128" y="1527048"/>
            <a:ext cx="25237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JS balidazioa 2 funtziorekin.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XML fitxategi lokala sortu.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Regex patroiak.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080760" y="594360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0" name="Google Shape;150;p5"/>
          <p:cNvSpPr/>
          <p:nvPr/>
        </p:nvSpPr>
        <p:spPr>
          <a:xfrm>
            <a:off x="6080760" y="594360"/>
            <a:ext cx="2743200" cy="54864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6080760" y="70408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172200" y="119786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Bootstrap Osagaiak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190488" y="1527048"/>
            <a:ext cx="25237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Navbar, card, modal,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badge, carousel…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Berrerabilgarriak.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20040" y="2651760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5" name="Google Shape;155;p5"/>
          <p:cNvSpPr/>
          <p:nvPr/>
        </p:nvSpPr>
        <p:spPr>
          <a:xfrm>
            <a:off x="320040" y="2651760"/>
            <a:ext cx="2743200" cy="54864"/>
          </a:xfrm>
          <a:prstGeom prst="rect">
            <a:avLst/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6" name="Google Shape;156;p5"/>
          <p:cNvSpPr/>
          <p:nvPr/>
        </p:nvSpPr>
        <p:spPr>
          <a:xfrm>
            <a:off x="320040" y="276148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11480" y="325526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XML / XSD / DTD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29768" y="3584448"/>
            <a:ext cx="25237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XML katalogoa kargatzen 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XML Schema + DTD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balioztatuta.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200400" y="2651760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0" name="Google Shape;160;p5"/>
          <p:cNvSpPr/>
          <p:nvPr/>
        </p:nvSpPr>
        <p:spPr>
          <a:xfrm>
            <a:off x="3200400" y="2651760"/>
            <a:ext cx="2743200" cy="54864"/>
          </a:xfrm>
          <a:prstGeom prst="rect">
            <a:avLst/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1" name="Google Shape;161;p5"/>
          <p:cNvSpPr/>
          <p:nvPr/>
        </p:nvSpPr>
        <p:spPr>
          <a:xfrm>
            <a:off x="3200400" y="276148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291840" y="325526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XSLT / XPath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310128" y="3584448"/>
            <a:ext cx="25237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XML → XHTML eraldaketa.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XPath kontsultak.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XQuery baliokideak.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080760" y="2651760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5" name="Google Shape;165;p5"/>
          <p:cNvSpPr/>
          <p:nvPr/>
        </p:nvSpPr>
        <p:spPr>
          <a:xfrm>
            <a:off x="6080760" y="2651760"/>
            <a:ext cx="2743200" cy="54864"/>
          </a:xfrm>
          <a:prstGeom prst="rect">
            <a:avLst/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6" name="Google Shape;166;p5"/>
          <p:cNvSpPr/>
          <p:nvPr/>
        </p:nvSpPr>
        <p:spPr>
          <a:xfrm>
            <a:off x="6080760" y="276148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172200" y="325526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Modu Iluna + i18n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190488" y="3584448"/>
            <a:ext cx="25237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EU/ES itzulpen dinamikoa.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Dark mode (OLED aurrezpena).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A+ Karbono-kalifikazioa.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371600" y="4663440"/>
            <a:ext cx="6400800" cy="320040"/>
          </a:xfrm>
          <a:prstGeom prst="roundRect">
            <a:avLst>
              <a:gd fmla="val 17143" name="adj"/>
            </a:avLst>
          </a:prstGeom>
          <a:solidFill>
            <a:srgbClr val="1C3557"/>
          </a:solidFill>
          <a:ln cap="flat" cmpd="sng" w="12700">
            <a:solidFill>
              <a:srgbClr val="1C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0" name="Google Shape;170;p5"/>
          <p:cNvSpPr/>
          <p:nvPr/>
        </p:nvSpPr>
        <p:spPr>
          <a:xfrm>
            <a:off x="1371600" y="46634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1" i="0" lang="en-US" sz="11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🌐  A+ Website Carbon Rating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365760" y="164592"/>
            <a:ext cx="502920" cy="274320"/>
          </a:xfrm>
          <a:prstGeom prst="roundRect">
            <a:avLst>
              <a:gd fmla="val 20000" name="adj"/>
            </a:avLst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960120" y="1645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JavaFX Aplikazioa — Langileentzat bideratutako apli</a:t>
            </a:r>
            <a:r>
              <a:rPr b="1" lang="en-US" sz="1600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kazioa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65760" y="56692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Funtzionalitate nagusiak: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65760" y="941832"/>
            <a:ext cx="416052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81" name="Google Shape;181;p6"/>
          <p:cNvSpPr/>
          <p:nvPr/>
        </p:nvSpPr>
        <p:spPr>
          <a:xfrm>
            <a:off x="365760" y="941832"/>
            <a:ext cx="54864" cy="841248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82" name="Google Shape;182;p6"/>
          <p:cNvSpPr/>
          <p:nvPr/>
        </p:nvSpPr>
        <p:spPr>
          <a:xfrm>
            <a:off x="530352" y="1014984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📥 Erregistroa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30352" y="1307592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Artikulu berriak sartu: kategoria, kokalekua, argazkia, aurkitzailearen datuak.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709160" y="941832"/>
            <a:ext cx="416052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85" name="Google Shape;185;p6"/>
          <p:cNvSpPr/>
          <p:nvPr/>
        </p:nvSpPr>
        <p:spPr>
          <a:xfrm>
            <a:off x="4709160" y="941832"/>
            <a:ext cx="54864" cy="841248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86" name="Google Shape;186;p6"/>
          <p:cNvSpPr/>
          <p:nvPr/>
        </p:nvSpPr>
        <p:spPr>
          <a:xfrm>
            <a:off x="4873752" y="1014984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📊  Inbentarioa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873752" y="1307592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Artikulu guztiak ikusi + filtratu (izena, kategoria, egoera). Editatu, ezabatu, argazkia ikusi.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65760" y="1901952"/>
            <a:ext cx="416052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89" name="Google Shape;189;p6"/>
          <p:cNvSpPr/>
          <p:nvPr/>
        </p:nvSpPr>
        <p:spPr>
          <a:xfrm>
            <a:off x="365760" y="1901952"/>
            <a:ext cx="54864" cy="841248"/>
          </a:xfrm>
          <a:prstGeom prst="rect">
            <a:avLst/>
          </a:prstGeom>
          <a:solidFill>
            <a:srgbClr val="2D7DD2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0" name="Google Shape;190;p6"/>
          <p:cNvSpPr/>
          <p:nvPr/>
        </p:nvSpPr>
        <p:spPr>
          <a:xfrm>
            <a:off x="530352" y="1975104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🤝 Emanaldia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30352" y="2267712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Artikulua jabeari / erakundeari entregatu. Sinadura-dokumentua gorde.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709160" y="1901952"/>
            <a:ext cx="416052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3" name="Google Shape;193;p6"/>
          <p:cNvSpPr/>
          <p:nvPr/>
        </p:nvSpPr>
        <p:spPr>
          <a:xfrm>
            <a:off x="4709160" y="1901952"/>
            <a:ext cx="54864" cy="841248"/>
          </a:xfrm>
          <a:prstGeom prst="rect">
            <a:avLst/>
          </a:prstGeom>
          <a:solidFill>
            <a:srgbClr val="2D7DD2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4" name="Google Shape;194;p6"/>
          <p:cNvSpPr/>
          <p:nvPr/>
        </p:nvSpPr>
        <p:spPr>
          <a:xfrm>
            <a:off x="4873752" y="1975104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🔍 Erreklamazioak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873752" y="2267712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Herritarren erreklamazioak ikusi. Bat-etortze posibleak automatikoki.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365760" y="2862072"/>
            <a:ext cx="416052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7" name="Google Shape;197;p6"/>
          <p:cNvSpPr/>
          <p:nvPr/>
        </p:nvSpPr>
        <p:spPr>
          <a:xfrm>
            <a:off x="365760" y="2862072"/>
            <a:ext cx="54864" cy="841248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8" name="Google Shape;198;p6"/>
          <p:cNvSpPr/>
          <p:nvPr/>
        </p:nvSpPr>
        <p:spPr>
          <a:xfrm>
            <a:off x="530352" y="2935224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⏳ Iraungitakoak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30352" y="3227832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 urteko araua: aurkitzaileari edo erakunde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bateri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eskaini.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709160" y="2862072"/>
            <a:ext cx="416052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01" name="Google Shape;201;p6"/>
          <p:cNvSpPr/>
          <p:nvPr/>
        </p:nvSpPr>
        <p:spPr>
          <a:xfrm>
            <a:off x="4709160" y="2862072"/>
            <a:ext cx="54864" cy="841248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02" name="Google Shape;202;p6"/>
          <p:cNvSpPr/>
          <p:nvPr/>
        </p:nvSpPr>
        <p:spPr>
          <a:xfrm>
            <a:off x="4873752" y="2935224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📋  Auditoria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873752" y="3227832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Ekintza guztien historia. CSV-ra esportatu.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65760" y="3822192"/>
            <a:ext cx="416052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05" name="Google Shape;205;p6"/>
          <p:cNvSpPr/>
          <p:nvPr/>
        </p:nvSpPr>
        <p:spPr>
          <a:xfrm>
            <a:off x="365760" y="3822192"/>
            <a:ext cx="54864" cy="841248"/>
          </a:xfrm>
          <a:prstGeom prst="rect">
            <a:avLst/>
          </a:prstGeom>
          <a:solidFill>
            <a:srgbClr val="2D7DD2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06" name="Google Shape;206;p6"/>
          <p:cNvSpPr/>
          <p:nvPr/>
        </p:nvSpPr>
        <p:spPr>
          <a:xfrm>
            <a:off x="530352" y="3895344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🔒 Offline Modua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30352" y="4187952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DB konexiorik gabe ere funtzionatzen du store.dat fitxategiarekin.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709160" y="3822192"/>
            <a:ext cx="416052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09" name="Google Shape;209;p6"/>
          <p:cNvSpPr/>
          <p:nvPr/>
        </p:nvSpPr>
        <p:spPr>
          <a:xfrm>
            <a:off x="4709160" y="3822192"/>
            <a:ext cx="54864" cy="841248"/>
          </a:xfrm>
          <a:prstGeom prst="rect">
            <a:avLst/>
          </a:prstGeom>
          <a:solidFill>
            <a:srgbClr val="2D7DD2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0" name="Google Shape;210;p6"/>
          <p:cNvSpPr/>
          <p:nvPr/>
        </p:nvSpPr>
        <p:spPr>
          <a:xfrm>
            <a:off x="4873752" y="3895344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⚙ Admin Panela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873752" y="4187952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Langileak, kategoriak, kokalekuak kudeatu. DB backup egin.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/>
          <p:nvPr/>
        </p:nvSpPr>
        <p:spPr>
          <a:xfrm>
            <a:off x="365760" y="164592"/>
            <a:ext cx="502920" cy="274320"/>
          </a:xfrm>
          <a:prstGeom prst="roundRect">
            <a:avLst>
              <a:gd fmla="val 20000" name="adj"/>
            </a:avLst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960120" y="1645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Datu-basea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365760" y="5669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Taula nagusiak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65760" y="941832"/>
            <a:ext cx="4114800" cy="420624"/>
          </a:xfrm>
          <a:prstGeom prst="rect">
            <a:avLst/>
          </a:prstGeom>
          <a:solidFill>
            <a:srgbClr val="E8F1FB"/>
          </a:solidFill>
          <a:ln cap="flat" cmpd="sng" w="9525">
            <a:solidFill>
              <a:srgbClr val="D1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22" name="Google Shape;222;p7"/>
          <p:cNvSpPr/>
          <p:nvPr/>
        </p:nvSpPr>
        <p:spPr>
          <a:xfrm>
            <a:off x="502920" y="97840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950"/>
              <a:buFont typeface="Calibri"/>
              <a:buNone/>
            </a:pPr>
            <a:r>
              <a:rPr b="1" i="0" lang="en-US" sz="1150" u="none" cap="none" strike="noStrike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LANGILEA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2286000" y="97840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Udaleko langileak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365760" y="1444752"/>
            <a:ext cx="41148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25" name="Google Shape;225;p7"/>
          <p:cNvSpPr/>
          <p:nvPr/>
        </p:nvSpPr>
        <p:spPr>
          <a:xfrm>
            <a:off x="502920" y="148132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950"/>
              <a:buFont typeface="Calibri"/>
              <a:buNone/>
            </a:pPr>
            <a:r>
              <a:rPr b="1" i="0" lang="en-US" sz="1150" u="none" cap="none" strike="noStrike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KATEGORIA / KOKALEKUA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286000" y="148132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Sailkapena eta biltegiko guneak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365760" y="1947672"/>
            <a:ext cx="4114800" cy="420624"/>
          </a:xfrm>
          <a:prstGeom prst="rect">
            <a:avLst/>
          </a:prstGeom>
          <a:solidFill>
            <a:srgbClr val="E8F1FB"/>
          </a:solidFill>
          <a:ln cap="flat" cmpd="sng" w="9525">
            <a:solidFill>
              <a:srgbClr val="D1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28" name="Google Shape;228;p7"/>
          <p:cNvSpPr/>
          <p:nvPr/>
        </p:nvSpPr>
        <p:spPr>
          <a:xfrm>
            <a:off x="502920" y="198424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950"/>
              <a:buFont typeface="Calibri"/>
              <a:buNone/>
            </a:pPr>
            <a:r>
              <a:rPr b="1" i="0" lang="en-US" sz="1150" u="none" cap="none" strike="noStrike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HARTZAILEA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2286000" y="19842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Entitate nagusia (JABEA / ERAKUNDEA)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65760" y="2450592"/>
            <a:ext cx="41148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1" name="Google Shape;231;p7"/>
          <p:cNvSpPr/>
          <p:nvPr/>
        </p:nvSpPr>
        <p:spPr>
          <a:xfrm>
            <a:off x="502920" y="248716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950"/>
              <a:buFont typeface="Calibri"/>
              <a:buNone/>
            </a:pPr>
            <a:r>
              <a:rPr b="1" i="0" lang="en-US" sz="1150" u="none" cap="none" strike="noStrike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ARTIKULUA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2286000" y="248716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Galdutako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artikuluak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365760" y="2953512"/>
            <a:ext cx="4114800" cy="420624"/>
          </a:xfrm>
          <a:prstGeom prst="rect">
            <a:avLst/>
          </a:prstGeom>
          <a:solidFill>
            <a:srgbClr val="E8F1FB"/>
          </a:solidFill>
          <a:ln cap="flat" cmpd="sng" w="9525">
            <a:solidFill>
              <a:srgbClr val="D1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4" name="Google Shape;234;p7"/>
          <p:cNvSpPr/>
          <p:nvPr/>
        </p:nvSpPr>
        <p:spPr>
          <a:xfrm>
            <a:off x="502920" y="299008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950"/>
              <a:buFont typeface="Calibri"/>
              <a:buNone/>
            </a:pPr>
            <a:r>
              <a:rPr b="1" i="0" lang="en-US" sz="1150" u="none" cap="none" strike="noStrike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ERREKLAMAZIOA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286000" y="299008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Herritarren erreklamazio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ikuspegia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65760" y="3456432"/>
            <a:ext cx="41148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7" name="Google Shape;237;p7"/>
          <p:cNvSpPr/>
          <p:nvPr/>
        </p:nvSpPr>
        <p:spPr>
          <a:xfrm>
            <a:off x="502920" y="349300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950"/>
              <a:buFont typeface="Calibri"/>
              <a:buNone/>
            </a:pPr>
            <a:r>
              <a:rPr b="1" i="0" lang="en-US" sz="1150" u="none" cap="none" strike="noStrike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EMANALDIA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286000" y="349300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Entrega jabearentzat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365760" y="3959352"/>
            <a:ext cx="4114800" cy="420624"/>
          </a:xfrm>
          <a:prstGeom prst="rect">
            <a:avLst/>
          </a:prstGeom>
          <a:solidFill>
            <a:srgbClr val="E8F1FB"/>
          </a:solidFill>
          <a:ln cap="flat" cmpd="sng" w="9525">
            <a:solidFill>
              <a:srgbClr val="D1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40" name="Google Shape;240;p7"/>
          <p:cNvSpPr/>
          <p:nvPr/>
        </p:nvSpPr>
        <p:spPr>
          <a:xfrm>
            <a:off x="502920" y="399592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950"/>
              <a:buFont typeface="Calibri"/>
              <a:buNone/>
            </a:pPr>
            <a:r>
              <a:rPr b="1" i="0" lang="en-US" sz="1150" u="none" cap="none" strike="noStrike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MUGIMENDUA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2286000" y="399592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kintz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guzti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 log-ak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365760" y="4462272"/>
            <a:ext cx="41148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43" name="Google Shape;243;p7"/>
          <p:cNvSpPr/>
          <p:nvPr/>
        </p:nvSpPr>
        <p:spPr>
          <a:xfrm>
            <a:off x="502920" y="449884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950"/>
              <a:buFont typeface="Calibri"/>
              <a:buNone/>
            </a:pPr>
            <a:r>
              <a:rPr b="1" i="0" lang="en-US" sz="1150" u="none" cap="none" strike="noStrike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JAKINARAZPENA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286000" y="44988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Abisuak (2 urte)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754880" y="56692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DB Logika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754880" y="841375"/>
            <a:ext cx="4069080" cy="292608"/>
          </a:xfrm>
          <a:prstGeom prst="rect">
            <a:avLst/>
          </a:prstGeom>
          <a:solidFill>
            <a:srgbClr val="1C3557"/>
          </a:solidFill>
          <a:ln cap="flat" cmpd="sng" w="12700">
            <a:solidFill>
              <a:srgbClr val="1C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47" name="Google Shape;247;p7"/>
          <p:cNvSpPr/>
          <p:nvPr/>
        </p:nvSpPr>
        <p:spPr>
          <a:xfrm>
            <a:off x="4754880" y="841375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Triggerrak (04-trigger.sql)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754880" y="1133983"/>
            <a:ext cx="40690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49" name="Google Shape;249;p7"/>
          <p:cNvSpPr/>
          <p:nvPr/>
        </p:nvSpPr>
        <p:spPr>
          <a:xfrm>
            <a:off x="4828032" y="1253109"/>
            <a:ext cx="109728" cy="109728"/>
          </a:xfrm>
          <a:prstGeom prst="ellipse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50" name="Google Shape;250;p7"/>
          <p:cNvSpPr/>
          <p:nvPr/>
        </p:nvSpPr>
        <p:spPr>
          <a:xfrm>
            <a:off x="5010912" y="1188847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UPDATE trigger → MUGIMENDUA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 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taula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754880" y="1518031"/>
            <a:ext cx="40690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52" name="Google Shape;252;p7"/>
          <p:cNvSpPr/>
          <p:nvPr/>
        </p:nvSpPr>
        <p:spPr>
          <a:xfrm>
            <a:off x="4828032" y="1646047"/>
            <a:ext cx="109728" cy="109728"/>
          </a:xfrm>
          <a:prstGeom prst="ellipse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53" name="Google Shape;253;p7"/>
          <p:cNvSpPr/>
          <p:nvPr/>
        </p:nvSpPr>
        <p:spPr>
          <a:xfrm>
            <a:off x="5010912" y="1572895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DELETE trigger → aurreko balioak gorde automatikoki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754880" y="1902079"/>
            <a:ext cx="40690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55" name="Google Shape;255;p7"/>
          <p:cNvSpPr/>
          <p:nvPr/>
        </p:nvSpPr>
        <p:spPr>
          <a:xfrm>
            <a:off x="4828032" y="2048510"/>
            <a:ext cx="109728" cy="109728"/>
          </a:xfrm>
          <a:prstGeom prst="ellipse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010912" y="1965833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EMANALDIA trigger → ARTIKULUA.egoera eguneratu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4754880" y="2368677"/>
            <a:ext cx="4069080" cy="292608"/>
          </a:xfrm>
          <a:prstGeom prst="rect">
            <a:avLst/>
          </a:prstGeom>
          <a:solidFill>
            <a:srgbClr val="1C3557"/>
          </a:solidFill>
          <a:ln cap="flat" cmpd="sng" w="12700">
            <a:solidFill>
              <a:srgbClr val="1C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58" name="Google Shape;258;p7"/>
          <p:cNvSpPr/>
          <p:nvPr/>
        </p:nvSpPr>
        <p:spPr>
          <a:xfrm>
            <a:off x="4754880" y="2368677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Gordetako Prozedurak (05-procedures.sql)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754880" y="2661285"/>
            <a:ext cx="40690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0" name="Google Shape;260;p7"/>
          <p:cNvSpPr/>
          <p:nvPr/>
        </p:nvSpPr>
        <p:spPr>
          <a:xfrm>
            <a:off x="4828032" y="2807081"/>
            <a:ext cx="109728" cy="109728"/>
          </a:xfrm>
          <a:prstGeom prst="ellipse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1" name="Google Shape;261;p7"/>
          <p:cNvSpPr/>
          <p:nvPr/>
        </p:nvSpPr>
        <p:spPr>
          <a:xfrm>
            <a:off x="5029327" y="269773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sp_iraungitakoak_kudeatu — 2 urteko araua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754880" y="3045333"/>
            <a:ext cx="40690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3" name="Google Shape;263;p7"/>
          <p:cNvSpPr/>
          <p:nvPr/>
        </p:nvSpPr>
        <p:spPr>
          <a:xfrm>
            <a:off x="4828032" y="3191129"/>
            <a:ext cx="109728" cy="109728"/>
          </a:xfrm>
          <a:prstGeom prst="ellipse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4" name="Google Shape;264;p7"/>
          <p:cNvSpPr/>
          <p:nvPr/>
        </p:nvSpPr>
        <p:spPr>
          <a:xfrm>
            <a:off x="5010912" y="308178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sp_erreklamazioa_ebatzi — transakzio segurua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754880" y="3492881"/>
            <a:ext cx="4069080" cy="292608"/>
          </a:xfrm>
          <a:prstGeom prst="rect">
            <a:avLst/>
          </a:prstGeom>
          <a:solidFill>
            <a:srgbClr val="1C3557"/>
          </a:solidFill>
          <a:ln cap="flat" cmpd="sng" w="12700">
            <a:solidFill>
              <a:srgbClr val="1C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6" name="Google Shape;266;p7"/>
          <p:cNvSpPr/>
          <p:nvPr/>
        </p:nvSpPr>
        <p:spPr>
          <a:xfrm>
            <a:off x="4754880" y="3492881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🔐  DB Rolak (02-roles.sql)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754880" y="3785489"/>
            <a:ext cx="40690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8" name="Google Shape;268;p7"/>
          <p:cNvSpPr/>
          <p:nvPr/>
        </p:nvSpPr>
        <p:spPr>
          <a:xfrm>
            <a:off x="4828032" y="3959225"/>
            <a:ext cx="109728" cy="109728"/>
          </a:xfrm>
          <a:prstGeom prst="ellipse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9" name="Google Shape;269;p7"/>
          <p:cNvSpPr/>
          <p:nvPr/>
        </p:nvSpPr>
        <p:spPr>
          <a:xfrm>
            <a:off x="5029327" y="387654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admin_rola → SELECT/INSERT/UPDATE/DELETE/ADMIN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754880" y="4169537"/>
            <a:ext cx="40690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71" name="Google Shape;271;p7"/>
          <p:cNvSpPr/>
          <p:nvPr/>
        </p:nvSpPr>
        <p:spPr>
          <a:xfrm>
            <a:off x="4828032" y="4306443"/>
            <a:ext cx="109728" cy="109728"/>
          </a:xfrm>
          <a:prstGeom prst="ellipse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72" name="Google Shape;272;p7"/>
          <p:cNvSpPr/>
          <p:nvPr/>
        </p:nvSpPr>
        <p:spPr>
          <a:xfrm>
            <a:off x="5010912" y="420598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langile_rola → CRUD osoa, LANGILEA irakurketa soilik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754880" y="4553585"/>
            <a:ext cx="40690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74" name="Google Shape;274;p7"/>
          <p:cNvSpPr/>
          <p:nvPr/>
        </p:nvSpPr>
        <p:spPr>
          <a:xfrm>
            <a:off x="4828032" y="4663186"/>
            <a:ext cx="109728" cy="109728"/>
          </a:xfrm>
          <a:prstGeom prst="ellipse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5010912" y="4590669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ikusle_rola → artikuluak erregistratu eta ikusi  soilik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365760" y="164592"/>
            <a:ext cx="502920" cy="274320"/>
          </a:xfrm>
          <a:prstGeom prst="roundRect">
            <a:avLst>
              <a:gd fmla="val 20000" name="adj"/>
            </a:avLst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960120" y="1645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Jasangarritasun Digitala — Ekodiseinu Emaitzak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65760" y="594360"/>
            <a:ext cx="2377440" cy="2926080"/>
          </a:xfrm>
          <a:prstGeom prst="rect">
            <a:avLst/>
          </a:prstGeom>
          <a:solidFill>
            <a:srgbClr val="14532D"/>
          </a:solidFill>
          <a:ln cap="flat" cmpd="sng" w="12700">
            <a:solidFill>
              <a:srgbClr val="14532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365760" y="91440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7200"/>
              <a:buFont typeface="Calibri"/>
              <a:buNone/>
            </a:pPr>
            <a:r>
              <a:rPr b="1" lang="en-US" sz="7200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A+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365760" y="210312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Website Carbon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Rating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65760" y="27432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Cleaner than 100%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of web pages globally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2926043" y="544180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Google Lighthouse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2799515" y="872950"/>
            <a:ext cx="1372200" cy="1372200"/>
          </a:xfrm>
          <a:prstGeom prst="ellipse">
            <a:avLst/>
          </a:prstGeom>
          <a:solidFill>
            <a:srgbClr val="166534"/>
          </a:solidFill>
          <a:ln cap="flat" cmpd="sng" w="2117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625" lIns="101625" spcFirstLastPara="1" rIns="101625" wrap="square" tIns="101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2799515" y="923776"/>
            <a:ext cx="1372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890"/>
              <a:buFont typeface="Calibri"/>
              <a:buNone/>
            </a:pPr>
            <a:r>
              <a:rPr b="1" lang="en-US" sz="2890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93</a:t>
            </a:r>
            <a:endParaRPr sz="28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2697863" y="1655663"/>
            <a:ext cx="15753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45"/>
              <a:buFont typeface="Calibri"/>
              <a:buNone/>
            </a:pPr>
            <a:r>
              <a:rPr lang="en-US" sz="114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11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4425947" y="872950"/>
            <a:ext cx="1372200" cy="1372200"/>
          </a:xfrm>
          <a:prstGeom prst="ellipse">
            <a:avLst/>
          </a:prstGeom>
          <a:solidFill>
            <a:srgbClr val="166534"/>
          </a:solidFill>
          <a:ln cap="flat" cmpd="sng" w="2117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625" lIns="101625" spcFirstLastPara="1" rIns="101625" wrap="square" tIns="101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4425947" y="923776"/>
            <a:ext cx="1372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890"/>
              <a:buFont typeface="Calibri"/>
              <a:buNone/>
            </a:pPr>
            <a:r>
              <a:rPr b="1" lang="en-US" sz="2890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 sz="28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324295" y="1655663"/>
            <a:ext cx="15756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45"/>
              <a:buFont typeface="Calibri"/>
              <a:buNone/>
            </a:pPr>
            <a:r>
              <a:rPr lang="en-US" sz="114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endParaRPr sz="11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052380" y="872950"/>
            <a:ext cx="1372200" cy="1372200"/>
          </a:xfrm>
          <a:prstGeom prst="ellipse">
            <a:avLst/>
          </a:prstGeom>
          <a:solidFill>
            <a:srgbClr val="166534"/>
          </a:solidFill>
          <a:ln cap="flat" cmpd="sng" w="2117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625" lIns="101625" spcFirstLastPara="1" rIns="101625" wrap="square" tIns="101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6052380" y="923776"/>
            <a:ext cx="1372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890"/>
              <a:buFont typeface="Calibri"/>
              <a:buNone/>
            </a:pPr>
            <a:r>
              <a:rPr b="1" lang="en-US" sz="2890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 sz="28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950728" y="1655663"/>
            <a:ext cx="15756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45"/>
              <a:buFont typeface="Calibri"/>
              <a:buNone/>
            </a:pPr>
            <a:r>
              <a:rPr lang="en-US" sz="114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sz="11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7678813" y="872950"/>
            <a:ext cx="1372200" cy="1372200"/>
          </a:xfrm>
          <a:prstGeom prst="ellipse">
            <a:avLst/>
          </a:prstGeom>
          <a:solidFill>
            <a:srgbClr val="166534"/>
          </a:solidFill>
          <a:ln cap="flat" cmpd="sng" w="2117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625" lIns="101625" spcFirstLastPara="1" rIns="101625" wrap="square" tIns="101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7678813" y="923776"/>
            <a:ext cx="1372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890"/>
              <a:buFont typeface="Calibri"/>
              <a:buNone/>
            </a:pPr>
            <a:r>
              <a:rPr b="1" lang="en-US" sz="2890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sz="28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7577161" y="1655663"/>
            <a:ext cx="15756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45"/>
              <a:buFont typeface="Calibri"/>
              <a:buNone/>
            </a:pPr>
            <a:r>
              <a:rPr lang="en-US" sz="114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SEO</a:t>
            </a:r>
            <a:endParaRPr sz="11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2926080" y="2267712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Aplikatutako Neurri Teknikoak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2926080" y="2633472"/>
            <a:ext cx="283464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2926080" y="2633472"/>
            <a:ext cx="54864" cy="60350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3090672" y="267919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⚡ CSS/JS Minifikazioa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3090672" y="2953512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style.min.css eta js.min.js — KB murrizketa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5897880" y="2633472"/>
            <a:ext cx="283464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5897880" y="2633472"/>
            <a:ext cx="54864" cy="60350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6062472" y="267919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🔤   Letra-tipo Lokalak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6062472" y="2953512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 + Montserrat WOFF2 formatuan — DNS aurrezten du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2926080" y="3346704"/>
            <a:ext cx="283464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2926080" y="3346704"/>
            <a:ext cx="54864" cy="60350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3017647" y="3392424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🌙   Modu Iluna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090672" y="3666744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OLED pixel itzalketak — bateria aurrezte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897880" y="3346704"/>
            <a:ext cx="283464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5897880" y="3346704"/>
            <a:ext cx="54864" cy="60350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6062472" y="3392424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🏗   Framework-ik Gabe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6062472" y="3666744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Vanilla HTML/CSS/JS — kode zikin gabe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2926080" y="4059936"/>
            <a:ext cx="283464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2926080" y="4059936"/>
            <a:ext cx="54864" cy="60350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3017647" y="4105656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🖼   SVG Ikonoak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3090672" y="4379976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Ez da kanpoko liburutegirik — HTTP dei minimoak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5897880" y="4059936"/>
            <a:ext cx="283464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5897880" y="4059936"/>
            <a:ext cx="54864" cy="60350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6062472" y="4105656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💚   Netlify Hosting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6062472" y="4379976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Karbono-neutral ostapena — energia berriztagarria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9"/>
          <p:cNvSpPr/>
          <p:nvPr/>
        </p:nvSpPr>
        <p:spPr>
          <a:xfrm>
            <a:off x="365760" y="164592"/>
            <a:ext cx="502920" cy="274320"/>
          </a:xfrm>
          <a:prstGeom prst="roundRect">
            <a:avLst>
              <a:gd fmla="val 20000" name="adj"/>
            </a:avLst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960120" y="1645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Digitalizazioa — Dockerizazioa &amp; Azpiegitura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365760" y="5760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Ekosistema osoa komando bakar batekin: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365760" y="914400"/>
            <a:ext cx="8412480" cy="56692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365760" y="91440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500"/>
              <a:buFont typeface="Consolas"/>
              <a:buNone/>
            </a:pPr>
            <a:r>
              <a:rPr b="1" lang="en-US" sz="1500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$  git clone [url]  &amp;&amp;  docker compose up -d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365760" y="1691640"/>
            <a:ext cx="201168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38" name="Google Shape;338;p9"/>
          <p:cNvSpPr/>
          <p:nvPr/>
        </p:nvSpPr>
        <p:spPr>
          <a:xfrm>
            <a:off x="365760" y="1691640"/>
            <a:ext cx="2011680" cy="50292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365760" y="169164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75488" y="2286000"/>
            <a:ext cx="17922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Irudia: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475488" y="249631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lang="en-US"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mariadb:11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75488" y="2944368"/>
            <a:ext cx="17922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Portua: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475488" y="3154680"/>
            <a:ext cx="1792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0096C7"/>
                </a:solidFill>
                <a:latin typeface="Calibri"/>
                <a:ea typeface="Calibri"/>
                <a:cs typeface="Calibri"/>
                <a:sym typeface="Calibri"/>
              </a:rPr>
              <a:t>3306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475488" y="3566160"/>
            <a:ext cx="17922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01-schema.sql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02-roles.sql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03-seed.sql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04-trigger.sql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05-procedures.sql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2514600" y="1691640"/>
            <a:ext cx="201168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6" name="Google Shape;346;p9"/>
          <p:cNvSpPr/>
          <p:nvPr/>
        </p:nvSpPr>
        <p:spPr>
          <a:xfrm>
            <a:off x="2514600" y="1691640"/>
            <a:ext cx="2011680" cy="502920"/>
          </a:xfrm>
          <a:prstGeom prst="rect">
            <a:avLst/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2514600" y="169164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java-app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2624328" y="2286000"/>
            <a:ext cx="17922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Irudia: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2624328" y="249631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lang="en-US"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Multi-stage build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lang="en-US"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Java 21 JRE slim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2624328" y="2944368"/>
            <a:ext cx="17922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Portua: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2624328" y="3154680"/>
            <a:ext cx="1792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0096C7"/>
                </a:solidFill>
                <a:latin typeface="Calibri"/>
                <a:ea typeface="Calibri"/>
                <a:cs typeface="Calibri"/>
                <a:sym typeface="Calibri"/>
              </a:rPr>
              <a:t>6080 (noVNC)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2624328" y="3566160"/>
            <a:ext cx="17922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JavaFX GUI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navigatzailean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663440" y="1691640"/>
            <a:ext cx="201168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54" name="Google Shape;354;p9"/>
          <p:cNvSpPr/>
          <p:nvPr/>
        </p:nvSpPr>
        <p:spPr>
          <a:xfrm>
            <a:off x="4663440" y="1691640"/>
            <a:ext cx="2011680" cy="502920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4663440" y="169164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4773168" y="2286000"/>
            <a:ext cx="17922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Irudia: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4773168" y="249631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lang="en-US"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nginx:alpine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4773168" y="2944368"/>
            <a:ext cx="17922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Portua: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4773168" y="3154680"/>
            <a:ext cx="1792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0096C7"/>
                </a:solidFill>
                <a:latin typeface="Calibri"/>
                <a:ea typeface="Calibri"/>
                <a:cs typeface="Calibri"/>
                <a:sym typeface="Calibri"/>
              </a:rPr>
              <a:t>8000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4773168" y="3566160"/>
            <a:ext cx="17922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 atari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publikoa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HTML/CSS/JS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6812280" y="1691640"/>
            <a:ext cx="201168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62" name="Google Shape;362;p9"/>
          <p:cNvSpPr/>
          <p:nvPr/>
        </p:nvSpPr>
        <p:spPr>
          <a:xfrm>
            <a:off x="6812280" y="1691640"/>
            <a:ext cx="2011680" cy="5029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6812280" y="169164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6922008" y="2286000"/>
            <a:ext cx="17922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Irudia: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6922008" y="249631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lang="en-US"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adminer:latest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6922008" y="2944368"/>
            <a:ext cx="17922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Portua: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6922008" y="3154680"/>
            <a:ext cx="1792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0096C7"/>
                </a:solidFill>
                <a:latin typeface="Calibri"/>
                <a:ea typeface="Calibri"/>
                <a:cs typeface="Calibri"/>
                <a:sym typeface="Calibri"/>
              </a:rPr>
              <a:t>8081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6922008" y="3566160"/>
            <a:ext cx="17922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DB web UI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365760" y="4690872"/>
            <a:ext cx="8412480" cy="320040"/>
          </a:xfrm>
          <a:prstGeom prst="roundRect">
            <a:avLst>
              <a:gd fmla="val 17143" name="adj"/>
            </a:avLst>
          </a:prstGeom>
          <a:solidFill>
            <a:srgbClr val="1C3557"/>
          </a:solidFill>
          <a:ln cap="flat" cmpd="sng" w="12700">
            <a:solidFill>
              <a:srgbClr val="1C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365760" y="469087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🏆  Bezeroak ekosistema osoa hedatu ahal du soilik  git clone [url] eta .exe-a exekutatuz (DB dockerren bidez piztuta eduki behar duzu)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0"/>
          <p:cNvSpPr/>
          <p:nvPr/>
        </p:nvSpPr>
        <p:spPr>
          <a:xfrm>
            <a:off x="365760" y="164592"/>
            <a:ext cx="502920" cy="274320"/>
          </a:xfrm>
          <a:prstGeom prst="roundRect">
            <a:avLst>
              <a:gd fmla="val 20000" name="adj"/>
            </a:avLst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960120" y="1645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Garapen Inguruneak — Testing &amp; Dokumentazioa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365760" y="5669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None/>
            </a:pPr>
            <a:r>
              <a:rPr b="1" lang="en-US" sz="15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JUnit 5 Test Unitarioak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365760" y="941832"/>
            <a:ext cx="41148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81" name="Google Shape;381;p10"/>
          <p:cNvSpPr/>
          <p:nvPr/>
        </p:nvSpPr>
        <p:spPr>
          <a:xfrm>
            <a:off x="365760" y="941832"/>
            <a:ext cx="54864" cy="914400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82" name="Google Shape;382;p10"/>
          <p:cNvSpPr/>
          <p:nvPr/>
        </p:nvSpPr>
        <p:spPr>
          <a:xfrm>
            <a:off x="530352" y="10332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1" lang="en-US" sz="135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🗓  Test 1 — Iraungitze datak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530352" y="1344168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Artikulua.kalkulatuIraungitzea()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730 eguneko araua balidatzen du.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365760" y="1965960"/>
            <a:ext cx="41148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85" name="Google Shape;385;p10"/>
          <p:cNvSpPr/>
          <p:nvPr/>
        </p:nvSpPr>
        <p:spPr>
          <a:xfrm>
            <a:off x="365760" y="1965960"/>
            <a:ext cx="54864" cy="914400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86" name="Google Shape;386;p10"/>
          <p:cNvSpPr/>
          <p:nvPr/>
        </p:nvSpPr>
        <p:spPr>
          <a:xfrm>
            <a:off x="530352" y="2057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1" lang="en-US" sz="135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🔤  Test 2 — Regex Balidazioa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530352" y="2368296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XMLExportazioa-ren G-NNN-AA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patroiaren kontrola.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365760" y="2990088"/>
            <a:ext cx="41148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89" name="Google Shape;389;p10"/>
          <p:cNvSpPr/>
          <p:nvPr/>
        </p:nvSpPr>
        <p:spPr>
          <a:xfrm>
            <a:off x="365760" y="2990088"/>
            <a:ext cx="54864" cy="914400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90" name="Google Shape;390;p10"/>
          <p:cNvSpPr/>
          <p:nvPr/>
        </p:nvSpPr>
        <p:spPr>
          <a:xfrm>
            <a:off x="530352" y="30815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1" lang="en-US" sz="135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💾  Test 3 — Offline Kudeaketa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530352" y="3392424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BiltegiLokala: gorde eta kargatu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objetuak .dat fitxategian.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365760" y="4014216"/>
            <a:ext cx="41148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93" name="Google Shape;393;p10"/>
          <p:cNvSpPr/>
          <p:nvPr/>
        </p:nvSpPr>
        <p:spPr>
          <a:xfrm>
            <a:off x="365760" y="4014216"/>
            <a:ext cx="54864" cy="914400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94" name="Google Shape;394;p10"/>
          <p:cNvSpPr/>
          <p:nvPr/>
        </p:nvSpPr>
        <p:spPr>
          <a:xfrm>
            <a:off x="530352" y="410565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1" lang="en-US" sz="135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🔒  Test 4 — BCrypt Segurtasuna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530352" y="4416552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Pasahitz zuzenak eta okerrak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egiaztatzeko frogak.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4754880" y="56692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None/>
            </a:pPr>
            <a:r>
              <a:rPr b="1" lang="en-US" sz="15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Dokumentazioa &amp; Logak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4754880" y="941832"/>
            <a:ext cx="406908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98" name="Google Shape;398;p10"/>
          <p:cNvSpPr/>
          <p:nvPr/>
        </p:nvSpPr>
        <p:spPr>
          <a:xfrm>
            <a:off x="4754880" y="941832"/>
            <a:ext cx="4069080" cy="338328"/>
          </a:xfrm>
          <a:prstGeom prst="rect">
            <a:avLst/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99" name="Google Shape;399;p10"/>
          <p:cNvSpPr/>
          <p:nvPr/>
        </p:nvSpPr>
        <p:spPr>
          <a:xfrm>
            <a:off x="4754880" y="941832"/>
            <a:ext cx="4069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📐 Diagramak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4892040" y="1335024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Erabilera-kasuen diagrama (Use Case)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Klase-diagrama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Sekuentzi-diagrama (erabilera-kasu baterako)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4754880" y="2359152"/>
            <a:ext cx="406908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2" name="Google Shape;402;p10"/>
          <p:cNvSpPr/>
          <p:nvPr/>
        </p:nvSpPr>
        <p:spPr>
          <a:xfrm>
            <a:off x="4754880" y="2359152"/>
            <a:ext cx="4069080" cy="338328"/>
          </a:xfrm>
          <a:prstGeom prst="rect">
            <a:avLst/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3" name="Google Shape;403;p10"/>
          <p:cNvSpPr/>
          <p:nvPr/>
        </p:nvSpPr>
        <p:spPr>
          <a:xfrm>
            <a:off x="4754880" y="2359152"/>
            <a:ext cx="4069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📖 Javadoc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4892040" y="2752344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controller · dao · model · utils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Klase eta metodo guztiak komentatuta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@author etiketa klase bakoitzean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4754880" y="3776472"/>
            <a:ext cx="406908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6" name="Google Shape;406;p10"/>
          <p:cNvSpPr/>
          <p:nvPr/>
        </p:nvSpPr>
        <p:spPr>
          <a:xfrm>
            <a:off x="4754880" y="3776472"/>
            <a:ext cx="4069080" cy="338328"/>
          </a:xfrm>
          <a:prstGeom prst="rect">
            <a:avLst/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7" name="Google Shape;407;p10"/>
          <p:cNvSpPr/>
          <p:nvPr/>
        </p:nvSpPr>
        <p:spPr>
          <a:xfrm>
            <a:off x="4754880" y="3776472"/>
            <a:ext cx="4069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📝 Log Sistema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4892040" y="4169664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Insert logerako fitxategi bat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Erroreen erregistro globaleko fitxategi bat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557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1"/>
          <p:cNvSpPr/>
          <p:nvPr/>
        </p:nvSpPr>
        <p:spPr>
          <a:xfrm>
            <a:off x="3474720" y="969010"/>
            <a:ext cx="2194560" cy="2194560"/>
          </a:xfrm>
          <a:prstGeom prst="ellipse">
            <a:avLst/>
          </a:prstGeom>
          <a:solidFill>
            <a:srgbClr val="0096C7">
              <a:alpha val="20000"/>
            </a:srgbClr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15" name="Google Shape;415;p11"/>
          <p:cNvSpPr/>
          <p:nvPr/>
        </p:nvSpPr>
        <p:spPr>
          <a:xfrm>
            <a:off x="3571875" y="969325"/>
            <a:ext cx="21945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6000"/>
              <a:buFont typeface="Calibri"/>
              <a:buNone/>
            </a:pPr>
            <a:r>
              <a:rPr lang="en-US" sz="6300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6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457200" y="363931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800"/>
              <a:buFont typeface="Calibri"/>
              <a:buNone/>
            </a:pPr>
            <a:r>
              <a:rPr i="1" lang="en-US" sz="2100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Sistemaren Erakustaldi Zuzena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1371600" y="4206240"/>
            <a:ext cx="6400800" cy="256032"/>
          </a:xfrm>
          <a:prstGeom prst="roundRect">
            <a:avLst>
              <a:gd fmla="val 17857" name="adj"/>
            </a:avLst>
          </a:prstGeom>
          <a:solidFill>
            <a:srgbClr val="2D7DD2">
              <a:alpha val="40000"/>
            </a:srgbClr>
          </a:solidFill>
          <a:ln cap="flat" cmpd="sng" w="9525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18" name="Google Shape;418;p11"/>
          <p:cNvSpPr/>
          <p:nvPr/>
        </p:nvSpPr>
        <p:spPr>
          <a:xfrm>
            <a:off x="1371600" y="420624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Web ataria (katalogoa + formularioa + modu iluna)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1371600" y="4526280"/>
            <a:ext cx="6400800" cy="256032"/>
          </a:xfrm>
          <a:prstGeom prst="roundRect">
            <a:avLst>
              <a:gd fmla="val 17857" name="adj"/>
            </a:avLst>
          </a:prstGeom>
          <a:solidFill>
            <a:srgbClr val="2D7DD2">
              <a:alpha val="40000"/>
            </a:srgbClr>
          </a:solidFill>
          <a:ln cap="flat" cmpd="sng" w="9525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20" name="Google Shape;420;p11"/>
          <p:cNvSpPr/>
          <p:nvPr/>
        </p:nvSpPr>
        <p:spPr>
          <a:xfrm>
            <a:off x="1371600" y="452628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☕ JavaFX aplikazioa (erregistroa → inbentarioa → emanaldia)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1371600" y="4846320"/>
            <a:ext cx="6400800" cy="256032"/>
          </a:xfrm>
          <a:prstGeom prst="roundRect">
            <a:avLst>
              <a:gd fmla="val 17857" name="adj"/>
            </a:avLst>
          </a:prstGeom>
          <a:solidFill>
            <a:srgbClr val="2D7DD2">
              <a:alpha val="40000"/>
            </a:srgbClr>
          </a:solidFill>
          <a:ln cap="flat" cmpd="sng" w="9525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22" name="Google Shape;422;p11"/>
          <p:cNvSpPr/>
          <p:nvPr/>
        </p:nvSpPr>
        <p:spPr>
          <a:xfrm>
            <a:off x="1371600" y="484632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 Datu-basea (Adminer bidez taulak + triggerrak)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"/>
          <p:cNvSpPr/>
          <p:nvPr/>
        </p:nvSpPr>
        <p:spPr>
          <a:xfrm>
            <a:off x="365760" y="164592"/>
            <a:ext cx="502920" cy="274320"/>
          </a:xfrm>
          <a:prstGeom prst="roundRect">
            <a:avLst>
              <a:gd fmla="val 20000" name="adj"/>
            </a:avLst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9" name="Google Shape;429;p12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960120" y="1645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Arazoak eta Zailtasunak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320040" y="594360"/>
            <a:ext cx="4206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2" name="Google Shape;432;p12"/>
          <p:cNvSpPr/>
          <p:nvPr/>
        </p:nvSpPr>
        <p:spPr>
          <a:xfrm>
            <a:off x="4251960" y="704088"/>
            <a:ext cx="182880" cy="18288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3" name="Google Shape;433;p12"/>
          <p:cNvSpPr/>
          <p:nvPr/>
        </p:nvSpPr>
        <p:spPr>
          <a:xfrm>
            <a:off x="457200" y="6858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lang="en-US" sz="15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🐳  Docker + JavaFX GUI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57200" y="1005840"/>
            <a:ext cx="39319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80"/>
              <a:buFont typeface="Calibri"/>
              <a:buNone/>
            </a:pPr>
            <a:r>
              <a:rPr lang="en-US" sz="118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JavaFX-ek X11 pantaila behar du eta Docker sartzen denean konexioa ez zen automatikoki funtzionatzen. Konponbidea: noVNC erabiliz, GUI nabigatzaile arrunt batean bistaratzea lortu genuen.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4754880" y="594360"/>
            <a:ext cx="4206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6" name="Google Shape;436;p12"/>
          <p:cNvSpPr/>
          <p:nvPr/>
        </p:nvSpPr>
        <p:spPr>
          <a:xfrm>
            <a:off x="8686800" y="704088"/>
            <a:ext cx="182880" cy="18288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7" name="Google Shape;437;p12"/>
          <p:cNvSpPr/>
          <p:nvPr/>
        </p:nvSpPr>
        <p:spPr>
          <a:xfrm>
            <a:off x="4892040" y="6858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lang="en-US" sz="15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🔄  XML Fitxategi-trukea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4892040" y="1005840"/>
            <a:ext cx="39319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80"/>
              <a:buFont typeface="Calibri"/>
              <a:buNone/>
            </a:pPr>
            <a:r>
              <a:rPr lang="en-US" sz="118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JavaFX aplikazioa eta web zerbitzaria volumen partekatu baten bidez XML fitxategia partekatzen dute. Sinkronizazioa ziurtatzea eta encoding arazoak kudeatzea zaila izan zen.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320040" y="2075688"/>
            <a:ext cx="4206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0" name="Google Shape;440;p12"/>
          <p:cNvSpPr/>
          <p:nvPr/>
        </p:nvSpPr>
        <p:spPr>
          <a:xfrm>
            <a:off x="4251960" y="2185416"/>
            <a:ext cx="182880" cy="18288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1" name="Google Shape;441;p12"/>
          <p:cNvSpPr/>
          <p:nvPr/>
        </p:nvSpPr>
        <p:spPr>
          <a:xfrm>
            <a:off x="457200" y="21671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lang="en-US" sz="15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📱  Responsive + XSLT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457200" y="2487168"/>
            <a:ext cx="39319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80"/>
              <a:buFont typeface="Calibri"/>
              <a:buNone/>
            </a:pPr>
            <a:r>
              <a:rPr lang="en-US" sz="118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XSLT eraldaketak nabigatzaileen arteko desberdintasunak zituen. Cross-browser bateragarritasuna bermatzeko testu trinkoak idatzi behar izan genituen.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4754880" y="2075688"/>
            <a:ext cx="4206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4" name="Google Shape;444;p12"/>
          <p:cNvSpPr/>
          <p:nvPr/>
        </p:nvSpPr>
        <p:spPr>
          <a:xfrm>
            <a:off x="8686800" y="2185416"/>
            <a:ext cx="182880" cy="18288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5" name="Google Shape;445;p12"/>
          <p:cNvSpPr/>
          <p:nvPr/>
        </p:nvSpPr>
        <p:spPr>
          <a:xfrm>
            <a:off x="4892040" y="21671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lang="en-US" sz="15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🔐  Offline Modua + Sinkronizazioa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4892040" y="2487168"/>
            <a:ext cx="39319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80"/>
              <a:buFont typeface="Calibri"/>
              <a:buNone/>
            </a:pPr>
            <a:r>
              <a:rPr lang="en-US" sz="118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DB konexiorik gabeko egoera kudeatzea eta gero sinkronizatzea esperimentala zen. Serialized .dat fitxategiaren egonkortasuna bermatzea erronka teknikoa izan zen.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320040" y="3557016"/>
            <a:ext cx="4206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8" name="Google Shape;448;p12"/>
          <p:cNvSpPr/>
          <p:nvPr/>
        </p:nvSpPr>
        <p:spPr>
          <a:xfrm>
            <a:off x="4251960" y="3666744"/>
            <a:ext cx="182880" cy="18288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9" name="Google Shape;449;p12"/>
          <p:cNvSpPr/>
          <p:nvPr/>
        </p:nvSpPr>
        <p:spPr>
          <a:xfrm>
            <a:off x="457200" y="36484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lang="en-US" sz="15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🏗️  Talde-koordinazioa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457200" y="3968496"/>
            <a:ext cx="39319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80"/>
              <a:buFont typeface="Calibri"/>
              <a:buNone/>
            </a:pPr>
            <a:r>
              <a:rPr lang="en-US" sz="118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 pertsonako taldea izanda lan banaketa zehaztea eta Git-en gatazkak kudeatzea erronka konstantea izan zen. Gitflow estrategia batekin konpondu genuen.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4754880" y="3557016"/>
            <a:ext cx="4206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2" name="Google Shape;452;p12"/>
          <p:cNvSpPr/>
          <p:nvPr/>
        </p:nvSpPr>
        <p:spPr>
          <a:xfrm>
            <a:off x="8686800" y="3666744"/>
            <a:ext cx="182880" cy="18288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3" name="Google Shape;453;p12"/>
          <p:cNvSpPr/>
          <p:nvPr/>
        </p:nvSpPr>
        <p:spPr>
          <a:xfrm>
            <a:off x="4892040" y="36484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00"/>
              <a:buFont typeface="Calibri"/>
              <a:buNone/>
            </a:pPr>
            <a:r>
              <a:rPr b="1" lang="en-US" sz="1500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⏰  Denbora Kudeaketa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4892040" y="3968496"/>
            <a:ext cx="39319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80"/>
              <a:buFont typeface="Calibri"/>
              <a:buNone/>
            </a:pPr>
            <a:r>
              <a:rPr lang="en-US" sz="118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Moduluak paraleloan egiteak (DB, Java, Web) koordinazioa beharrezkoa zen. Mugarriak lagungarriak izan ziren baina batzuetan presio handia sortu zuten.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6858000" y="4928615"/>
            <a:ext cx="1920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00"/>
              <a:buFont typeface="Calibri"/>
              <a:buNone/>
            </a:pPr>
            <a:r>
              <a:rPr b="1" lang="en-US" sz="12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●  Altua</a:t>
            </a:r>
            <a:r>
              <a:rPr b="1" lang="en-US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  ●  Ertaina</a:t>
            </a:r>
            <a:r>
              <a:rPr b="1" lang="en-US" sz="12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  ●  Baxua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3"/>
          <p:cNvSpPr/>
          <p:nvPr/>
        </p:nvSpPr>
        <p:spPr>
          <a:xfrm>
            <a:off x="365760" y="164592"/>
            <a:ext cx="502920" cy="274320"/>
          </a:xfrm>
          <a:prstGeom prst="roundRect">
            <a:avLst>
              <a:gd fmla="val 20000" name="adj"/>
            </a:avLst>
          </a:prstGeom>
          <a:solidFill>
            <a:srgbClr val="2D7DD2"/>
          </a:solidFill>
          <a:ln cap="flat" cmpd="sng" w="1270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960120" y="1645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D2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2D7DD2"/>
                </a:solidFill>
                <a:latin typeface="Calibri"/>
                <a:ea typeface="Calibri"/>
                <a:cs typeface="Calibri"/>
                <a:sym typeface="Calibri"/>
              </a:rPr>
              <a:t>Etorkizuneko Hobekuntzak — Denbora gehiago izango bagenu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4648895" y="682235"/>
            <a:ext cx="3076800" cy="2153700"/>
          </a:xfrm>
          <a:prstGeom prst="rect">
            <a:avLst/>
          </a:prstGeom>
          <a:solidFill>
            <a:srgbClr val="FFFFFF"/>
          </a:solidFill>
          <a:ln cap="flat" cmpd="sng" w="106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3954" rotWithShape="0" algn="bl" dir="8100000" dist="28488">
              <a:srgbClr val="000000">
                <a:alpha val="10196"/>
              </a:srgbClr>
            </a:outerShdw>
          </a:effectLst>
        </p:spPr>
        <p:txBody>
          <a:bodyPr anchorCtr="0" anchor="ctr" bIns="102550" lIns="102550" spcFirstLastPara="1" rIns="102550" wrap="square" tIns="102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5" name="Google Shape;465;p13"/>
          <p:cNvSpPr/>
          <p:nvPr/>
        </p:nvSpPr>
        <p:spPr>
          <a:xfrm>
            <a:off x="4648820" y="656560"/>
            <a:ext cx="3076800" cy="61500"/>
          </a:xfrm>
          <a:prstGeom prst="rect">
            <a:avLst/>
          </a:prstGeom>
          <a:solidFill>
            <a:srgbClr val="0096C7"/>
          </a:solidFill>
          <a:ln cap="flat" cmpd="sng" w="1425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550" lIns="102550" spcFirstLastPara="1" rIns="102550" wrap="square" tIns="102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3"/>
          <p:cNvSpPr/>
          <p:nvPr/>
        </p:nvSpPr>
        <p:spPr>
          <a:xfrm>
            <a:off x="4648895" y="805306"/>
            <a:ext cx="30768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8"/>
              <a:buFont typeface="Calibri"/>
              <a:buNone/>
            </a:pPr>
            <a:r>
              <a:rPr lang="en-US" sz="266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sz="26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4751454" y="1348865"/>
            <a:ext cx="28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34"/>
              <a:buFont typeface="Calibri"/>
              <a:buNone/>
            </a:pPr>
            <a:r>
              <a:rPr b="1" lang="en-US" sz="1434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IA Bat-etortzea</a:t>
            </a:r>
            <a:endParaRPr sz="14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4771965" y="1707819"/>
            <a:ext cx="28305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9"/>
              <a:buFont typeface="Calibri"/>
              <a:buNone/>
            </a:pPr>
            <a:r>
              <a:rPr lang="en-US" sz="1209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Machine learning erabiliz antzeko artikuluak automatikoki identifikatzeko (argazkia, deskripzioa) — erreklamazio-ebazpen abiadura handitzeko.</a:t>
            </a:r>
            <a:endParaRPr sz="12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1418324" y="656551"/>
            <a:ext cx="3076800" cy="2153700"/>
          </a:xfrm>
          <a:prstGeom prst="rect">
            <a:avLst/>
          </a:prstGeom>
          <a:solidFill>
            <a:srgbClr val="FFFFFF"/>
          </a:solidFill>
          <a:ln cap="flat" cmpd="sng" w="106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3954" rotWithShape="0" algn="bl" dir="8100000" dist="28488">
              <a:srgbClr val="000000">
                <a:alpha val="10196"/>
              </a:srgbClr>
            </a:outerShdw>
          </a:effectLst>
        </p:spPr>
        <p:txBody>
          <a:bodyPr anchorCtr="0" anchor="ctr" bIns="102550" lIns="102550" spcFirstLastPara="1" rIns="102550" wrap="square" tIns="102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70" name="Google Shape;470;p13"/>
          <p:cNvSpPr/>
          <p:nvPr/>
        </p:nvSpPr>
        <p:spPr>
          <a:xfrm>
            <a:off x="1418324" y="656551"/>
            <a:ext cx="3076800" cy="61500"/>
          </a:xfrm>
          <a:prstGeom prst="rect">
            <a:avLst/>
          </a:prstGeom>
          <a:solidFill>
            <a:srgbClr val="0096C7"/>
          </a:solidFill>
          <a:ln cap="flat" cmpd="sng" w="1425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550" lIns="102550" spcFirstLastPara="1" rIns="102550" wrap="square" tIns="102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0"/>
          </a:p>
        </p:txBody>
      </p:sp>
      <p:sp>
        <p:nvSpPr>
          <p:cNvPr id="471" name="Google Shape;471;p13"/>
          <p:cNvSpPr/>
          <p:nvPr/>
        </p:nvSpPr>
        <p:spPr>
          <a:xfrm>
            <a:off x="1418324" y="779621"/>
            <a:ext cx="30768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8"/>
              <a:buFont typeface="Calibri"/>
              <a:buNone/>
            </a:pPr>
            <a:r>
              <a:rPr lang="en-US" sz="266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6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1520882" y="1323181"/>
            <a:ext cx="28716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34"/>
              <a:buFont typeface="Calibri"/>
              <a:buNone/>
            </a:pPr>
            <a:r>
              <a:rPr b="1" lang="en-US" sz="1434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Dashboard Errealak</a:t>
            </a:r>
            <a:endParaRPr sz="14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1541394" y="1682135"/>
            <a:ext cx="28305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9"/>
              <a:buFont typeface="Calibri"/>
              <a:buNone/>
            </a:pPr>
            <a:r>
              <a:rPr lang="en-US" sz="1209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Estadistika eta panel funtzional bat datu errealak erakusteko: </a:t>
            </a:r>
            <a:r>
              <a:rPr lang="en-US" sz="1209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gehien galdutako kategoriak, entrega-tasa</a:t>
            </a:r>
            <a:r>
              <a:rPr lang="en-US" sz="1209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1418301" y="2989799"/>
            <a:ext cx="3076800" cy="2153700"/>
          </a:xfrm>
          <a:prstGeom prst="rect">
            <a:avLst/>
          </a:prstGeom>
          <a:solidFill>
            <a:srgbClr val="FFFFFF"/>
          </a:solidFill>
          <a:ln cap="flat" cmpd="sng" w="106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3954" rotWithShape="0" algn="bl" dir="8100000" dist="28488">
              <a:srgbClr val="000000">
                <a:alpha val="10196"/>
              </a:srgbClr>
            </a:outerShdw>
          </a:effectLst>
        </p:spPr>
        <p:txBody>
          <a:bodyPr anchorCtr="0" anchor="ctr" bIns="102550" lIns="102550" spcFirstLastPara="1" rIns="102550" wrap="square" tIns="102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75" name="Google Shape;475;p13"/>
          <p:cNvSpPr/>
          <p:nvPr/>
        </p:nvSpPr>
        <p:spPr>
          <a:xfrm>
            <a:off x="1418301" y="2989799"/>
            <a:ext cx="3076800" cy="61500"/>
          </a:xfrm>
          <a:prstGeom prst="rect">
            <a:avLst/>
          </a:prstGeom>
          <a:solidFill>
            <a:srgbClr val="2D7DD2"/>
          </a:solidFill>
          <a:ln cap="flat" cmpd="sng" w="1425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550" lIns="102550" spcFirstLastPara="1" rIns="102550" wrap="square" tIns="102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76" name="Google Shape;476;p13"/>
          <p:cNvSpPr/>
          <p:nvPr/>
        </p:nvSpPr>
        <p:spPr>
          <a:xfrm>
            <a:off x="1418301" y="3112869"/>
            <a:ext cx="30768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8"/>
              <a:buFont typeface="Calibri"/>
              <a:buNone/>
            </a:pPr>
            <a:r>
              <a:rPr lang="en-US" sz="266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✉️</a:t>
            </a:r>
            <a:endParaRPr sz="26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1520860" y="3656429"/>
            <a:ext cx="28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34"/>
              <a:buFont typeface="Calibri"/>
              <a:buNone/>
            </a:pPr>
            <a:r>
              <a:rPr b="1" lang="en-US" sz="1434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Posta-jakinarazpenak</a:t>
            </a:r>
            <a:endParaRPr sz="14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1541371" y="4015383"/>
            <a:ext cx="28305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9"/>
              <a:buFont typeface="Calibri"/>
              <a:buNone/>
            </a:pPr>
            <a:r>
              <a:rPr lang="en-US" sz="1209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Sistema automatikoa: herritarrei emaila bidaltzea antzeko artikulua aurkitzen denean, edo 2 urteko epea bukatzear dagoenean.</a:t>
            </a:r>
            <a:endParaRPr sz="12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4648895" y="2989757"/>
            <a:ext cx="3076800" cy="2153700"/>
          </a:xfrm>
          <a:prstGeom prst="rect">
            <a:avLst/>
          </a:prstGeom>
          <a:solidFill>
            <a:srgbClr val="FFFFFF"/>
          </a:solidFill>
          <a:ln cap="flat" cmpd="sng" w="106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3954" rotWithShape="0" algn="bl" dir="8100000" dist="28488">
              <a:srgbClr val="000000">
                <a:alpha val="10196"/>
              </a:srgbClr>
            </a:outerShdw>
          </a:effectLst>
        </p:spPr>
        <p:txBody>
          <a:bodyPr anchorCtr="0" anchor="ctr" bIns="102550" lIns="102550" spcFirstLastPara="1" rIns="102550" wrap="square" tIns="102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80" name="Google Shape;480;p13"/>
          <p:cNvSpPr/>
          <p:nvPr/>
        </p:nvSpPr>
        <p:spPr>
          <a:xfrm>
            <a:off x="4648895" y="2989757"/>
            <a:ext cx="3076800" cy="61500"/>
          </a:xfrm>
          <a:prstGeom prst="rect">
            <a:avLst/>
          </a:prstGeom>
          <a:solidFill>
            <a:srgbClr val="2D7DD2"/>
          </a:solidFill>
          <a:ln cap="flat" cmpd="sng" w="14250">
            <a:solidFill>
              <a:srgbClr val="2D7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550" lIns="102550" spcFirstLastPara="1" rIns="102550" wrap="square" tIns="102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81" name="Google Shape;481;p13"/>
          <p:cNvSpPr/>
          <p:nvPr/>
        </p:nvSpPr>
        <p:spPr>
          <a:xfrm>
            <a:off x="4648895" y="3112827"/>
            <a:ext cx="30768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8"/>
              <a:buFont typeface="Calibri"/>
              <a:buNone/>
            </a:pPr>
            <a:r>
              <a:rPr lang="en-US" sz="266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26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4751454" y="3656387"/>
            <a:ext cx="28716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34"/>
              <a:buFont typeface="Calibri"/>
              <a:buNone/>
            </a:pPr>
            <a:r>
              <a:rPr b="1" lang="en-US" sz="1434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Bilaketa Aurreratua</a:t>
            </a:r>
            <a:endParaRPr sz="14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4771965" y="4015341"/>
            <a:ext cx="28305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9"/>
              <a:buFont typeface="Calibri"/>
              <a:buNone/>
            </a:pPr>
            <a:r>
              <a:rPr lang="en-US" sz="1209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Full-text search, argazkietatik bilaketa (CV teknologiarekin) eta kategoriazko filtro aurreratuagoak webgunean.</a:t>
            </a:r>
            <a:endParaRPr sz="12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557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/ 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4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Ondorioak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914400" y="1005840"/>
            <a:ext cx="7315200" cy="566928"/>
          </a:xfrm>
          <a:prstGeom prst="rect">
            <a:avLst/>
          </a:prstGeom>
          <a:solidFill>
            <a:srgbClr val="2D7DD2">
              <a:alpha val="30196"/>
            </a:srgbClr>
          </a:solidFill>
          <a:ln cap="flat" cmpd="sng" w="9525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93" name="Google Shape;493;p14"/>
          <p:cNvSpPr/>
          <p:nvPr/>
        </p:nvSpPr>
        <p:spPr>
          <a:xfrm>
            <a:off x="1051560" y="100584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1554480" y="1005840"/>
            <a:ext cx="6537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 funtzional eta osoa garatu dugu: web + Java + DB + Docker.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914400" y="1691640"/>
            <a:ext cx="7315200" cy="566928"/>
          </a:xfrm>
          <a:prstGeom prst="rect">
            <a:avLst/>
          </a:prstGeom>
          <a:solidFill>
            <a:srgbClr val="2D7DD2">
              <a:alpha val="30196"/>
            </a:srgbClr>
          </a:solidFill>
          <a:ln cap="flat" cmpd="sng" w="9525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96" name="Google Shape;496;p14"/>
          <p:cNvSpPr/>
          <p:nvPr/>
        </p:nvSpPr>
        <p:spPr>
          <a:xfrm>
            <a:off x="1051560" y="169164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📚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1554480" y="1691640"/>
            <a:ext cx="6537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astetan 6 modulutako konpetentziak integratu ditugu proiektu erreal batean.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914400" y="2377440"/>
            <a:ext cx="7315200" cy="566928"/>
          </a:xfrm>
          <a:prstGeom prst="rect">
            <a:avLst/>
          </a:prstGeom>
          <a:solidFill>
            <a:srgbClr val="2D7DD2">
              <a:alpha val="30196"/>
            </a:srgbClr>
          </a:solidFill>
          <a:ln cap="flat" cmpd="sng" w="9525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99" name="Google Shape;499;p14"/>
          <p:cNvSpPr/>
          <p:nvPr/>
        </p:nvSpPr>
        <p:spPr>
          <a:xfrm>
            <a:off x="1051560" y="237744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🌱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1554480" y="2377440"/>
            <a:ext cx="6537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Jasangarritasuna lehentasun gisa hartu dugu: A+ karbono-kalifikazioa.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914400" y="3063240"/>
            <a:ext cx="7315200" cy="566928"/>
          </a:xfrm>
          <a:prstGeom prst="rect">
            <a:avLst/>
          </a:prstGeom>
          <a:solidFill>
            <a:srgbClr val="2D7DD2">
              <a:alpha val="30196"/>
            </a:srgbClr>
          </a:solidFill>
          <a:ln cap="flat" cmpd="sng" w="9525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02" name="Google Shape;502;p14"/>
          <p:cNvSpPr/>
          <p:nvPr/>
        </p:nvSpPr>
        <p:spPr>
          <a:xfrm>
            <a:off x="1051560" y="306324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🐳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1554480" y="3063240"/>
            <a:ext cx="6537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Dockerizazioak hedapen automatikoa ahalbidetzen du: komando bakar batekin.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914400" y="3749040"/>
            <a:ext cx="7315200" cy="566928"/>
          </a:xfrm>
          <a:prstGeom prst="rect">
            <a:avLst/>
          </a:prstGeom>
          <a:solidFill>
            <a:srgbClr val="2D7DD2">
              <a:alpha val="30196"/>
            </a:srgbClr>
          </a:solidFill>
          <a:ln cap="flat" cmpd="sng" w="9525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05" name="Google Shape;505;p14"/>
          <p:cNvSpPr/>
          <p:nvPr/>
        </p:nvSpPr>
        <p:spPr>
          <a:xfrm>
            <a:off x="1051560" y="374904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1554480" y="3749040"/>
            <a:ext cx="6537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Talde-lanean ikasi dugu: Git, planifikazioa eta komunikazioa funtsezkoak dira.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557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5"/>
          <p:cNvSpPr/>
          <p:nvPr/>
        </p:nvSpPr>
        <p:spPr>
          <a:xfrm>
            <a:off x="3200400" y="365760"/>
            <a:ext cx="2743200" cy="2743200"/>
          </a:xfrm>
          <a:prstGeom prst="ellipse">
            <a:avLst/>
          </a:prstGeom>
          <a:solidFill>
            <a:srgbClr val="0096C7">
              <a:alpha val="14901"/>
            </a:srgbClr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Galderarik 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3200400" y="365760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0000"/>
              <a:buFont typeface="Calibri"/>
              <a:buNone/>
            </a:pPr>
            <a:r>
              <a:rPr b="1" lang="en-US" sz="10000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1371600" y="393192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Yeray Garrido Parra  ·  Eder Martin </a:t>
            </a:r>
            <a:r>
              <a:rPr b="1" lang="en-US" sz="1200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Mosquera</a:t>
            </a:r>
            <a:br>
              <a:rPr b="1" lang="en-US" sz="1200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1º DAW · CIFP Zornotza LHII ·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2286000" y="4709160"/>
            <a:ext cx="4572000" cy="292608"/>
          </a:xfrm>
          <a:prstGeom prst="rect">
            <a:avLst/>
          </a:prstGeom>
          <a:solidFill>
            <a:srgbClr val="2D7DD2">
              <a:alpha val="50196"/>
            </a:srgbClr>
          </a:solidFill>
          <a:ln cap="flat" cmpd="sng" w="9525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5"/>
          <p:cNvSpPr/>
          <p:nvPr/>
        </p:nvSpPr>
        <p:spPr>
          <a:xfrm>
            <a:off x="2286000" y="47091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Bermeoko Udala · Galduen eta Aurkituen Kudeaketa ·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2026-05-19T08:43:00Z</dcterms:created>
  <dc:creator>Yeray Garrido &amp; Eder Martin · 1º DAW 2026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3082-12.1.0.26372</vt:lpwstr>
  </property>
  <property fmtid="{D5CDD505-2E9C-101B-9397-08002B2CF9AE}" pid="3" name="ICV">
    <vt:lpwstr>5967C2DAE4044302AFA884FABF695DE4_12</vt:lpwstr>
  </property>
</Properties>
</file>